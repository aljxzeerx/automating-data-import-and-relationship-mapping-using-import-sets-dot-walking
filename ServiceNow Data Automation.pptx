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</p:sldIdLst>
  <p:sldSz cx="12192000" cy="6858000"/>
  <p:notesSz cx="6858000" cy="9144000"/>
  <p:embeddedFontLst>
    <p:embeddedFont>
      <p:font typeface="DM Sans" pitchFamily="2" charset="0"/>
      <p:regular r:id="rId10"/>
      <p:bold r:id="rId11"/>
      <p:italic r:id="rId12"/>
      <p:boldItalic r:id="rId13"/>
    </p:embeddedFont>
    <p:embeddedFont>
      <p:font typeface="Merriweather" panose="00000500000000000000" pitchFamily="2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92BEF8-81F3-4CDA-99F0-605A8AF06E3D}">
  <a:tblStyle styleId="{D392BEF8-81F3-4CDA-99F0-605A8AF06E3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55D68-20C9-FB15-D979-EBFB9ECB7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93C34-C1DA-67BE-3F19-EA8689551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247AF-DE51-D77C-A735-E176AB21D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9587B-90A0-208B-C60F-C8812D171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153C5-D99C-C47D-E051-42CD0B595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4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70E26-67E7-1CB7-94F3-73259530B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C9D54-49B9-25E7-1782-0019278A9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08A02-D561-208D-FD0D-98967BD50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5843A-BD96-6CB8-9CBB-F9D5DD849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618BF-A145-FCB4-D3D4-B31823563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76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7C30-8CCC-D618-CB76-CD078E05C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A6D46-276E-A664-9346-7339B9A9F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ADD42-F86D-AEAA-4D8C-C1610B5F9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5C846-D560-8DAA-D9EE-CF14B4BC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1A209-A8DE-AA46-3496-B6C4D93E7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46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15AE8-D813-BC0B-4923-A3BE26D5F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071A1-4C44-1A7A-1B64-204C66845D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2877A-82F7-8C7C-A4A0-655CF336C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3B11A-7094-A94C-8E4C-D2F9AEB3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EA807-60F9-B3C6-175B-4FC6B6C0F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1DAF1-5834-B49B-F6DE-F0C8AADA2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14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9B92E-4982-E474-2015-B58E68D3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F3399-4244-A1CF-E7CF-6FCFD289E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F6E5A-3429-7C6D-E871-02989B215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24E52-7B6B-7B32-98F7-3995F2E70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6088FD-E5AD-5A75-37A6-CFF427700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523D62-B772-C9A1-870F-33BE7FCE1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C88357-9F7F-B0D0-7EE6-646AE1F9B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06659-DC76-51C3-E1B4-C9FE45BBA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30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CBB99-2C8F-BF7A-7459-7C3432F2D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A5EF9-8354-E141-7BC1-C3F53A289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8BD74-BE3D-9CCF-8C91-7AD2A8A5D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434B9-4FB4-BC58-2FA0-DBA9B1DB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6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06A94-ABAE-3C70-B402-1DC16B66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35829-CD7D-15E7-93F5-41366FF44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2D244-C80D-6056-BD66-D8C5365B9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55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BB58F-629D-9F00-F5A2-FDA7347E6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B129A-BBA9-1CCC-4039-B3A8DFC58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F6469-9E46-E60E-56AA-61D70CC6C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8E84E-48CD-693D-E066-033BE2DCC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0CB66-3364-7004-EE62-A3A2005CC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DCB48-35D0-6340-B413-9C62936D7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9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0F539-D082-7B68-BC70-522608E84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17876-7139-A43D-CBE8-44163E9C9A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D5ABC-3808-3D7D-3832-E841208BB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94B37-FC16-1166-7C73-6347F7309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EF041-9CC7-C9B8-2791-83EC3E7A0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23D87-6297-C521-A5F8-EB15D67D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763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63E9C-14F3-4BC8-E75A-2F9A34DC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FFC08-2883-02EF-7E2C-16164A0D9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1B964-1463-42B0-E2BA-C493A755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4EF68-18DC-932B-AC14-8DA7FC88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174D3-5950-27AC-1AFF-2EA406ABC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49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6CF182-75A4-D12E-651E-D63014547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E1636-ADAA-C75A-B913-2584EBDAE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99EA6-0ADB-B283-4FF8-3E66769D1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449BD-2E64-33A0-4B6C-FC0A15C3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EBD62-AB06-96FE-E1C3-5B661CCC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9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60D77F-6E8E-6164-43BB-9575BC7F9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004EE-AFEE-55AC-8057-FE00AA8E7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5E9C4-4C5F-9210-8EE7-08AEF2AF4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39EF5-56AD-1328-9CB6-D1FF6B65A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0F7A2-3E1D-2CC8-A3DE-5ECD176C91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044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063587" y="2754969"/>
            <a:ext cx="10300800" cy="134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50" b="1" dirty="0">
                <a:latin typeface="Merriweather"/>
                <a:ea typeface="Merriweather"/>
                <a:cs typeface="Merriweather"/>
                <a:sym typeface="Merriweather"/>
              </a:rPr>
              <a:t>Automating Data Import and Relationship Mapping Using Import Sets &amp; Dot Walking</a:t>
            </a:r>
            <a:endParaRPr sz="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p14"/>
          <p:cNvGraphicFramePr/>
          <p:nvPr>
            <p:extLst>
              <p:ext uri="{D42A27DB-BD31-4B8C-83A1-F6EECF244321}">
                <p14:modId xmlns:p14="http://schemas.microsoft.com/office/powerpoint/2010/main" val="1908695171"/>
              </p:ext>
            </p:extLst>
          </p:nvPr>
        </p:nvGraphicFramePr>
        <p:xfrm>
          <a:off x="571500" y="2133600"/>
          <a:ext cx="11049000" cy="2873375"/>
        </p:xfrm>
        <a:graphic>
          <a:graphicData uri="http://schemas.openxmlformats.org/drawingml/2006/table">
            <a:tbl>
              <a:tblPr firstRow="1" bandRow="1">
                <a:noFill/>
                <a:tableStyleId>{D392BEF8-81F3-4CDA-99F0-605A8AF06E3D}</a:tableStyleId>
              </a:tblPr>
              <a:tblGrid>
                <a:gridCol w="320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Team Member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Role &amp; Assignment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 Jazeera K (Team Lead)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 oversight, Create records in the Sheet, Conclusion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Karthika S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Creating Import Table (Staging), Match fields using Mapping Assist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3333"/>
                          </a:solidFill>
                          <a:latin typeface="DM Sans"/>
                          <a:sym typeface="DM Sans"/>
                        </a:rPr>
                        <a:t>Hajira  Banu M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333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Create Transform Map Configuration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Naveen Kumar S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Transform the Data, Result validation (Testing)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1" name="Google Shape;91;p14"/>
          <p:cNvSpPr/>
          <p:nvPr/>
        </p:nvSpPr>
        <p:spPr>
          <a:xfrm>
            <a:off x="571500" y="2719387"/>
            <a:ext cx="3205608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3777108" y="2719387"/>
            <a:ext cx="784339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571500" y="3290887"/>
            <a:ext cx="3205608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3777108" y="3290887"/>
            <a:ext cx="784339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71500" y="3862387"/>
            <a:ext cx="3205608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3777108" y="3862387"/>
            <a:ext cx="784339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71500" y="4433887"/>
            <a:ext cx="3205608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3777108" y="4433887"/>
            <a:ext cx="784339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71500" y="5005387"/>
            <a:ext cx="3205608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3777108" y="5005387"/>
            <a:ext cx="7843391" cy="95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Team Assignments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752475" y="21907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09625" y="21907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Streamlined onboarding and updates of employee records within ServiceNow via automated data ingestion.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752475" y="28479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09625" y="284797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Utilized native </a:t>
            </a:r>
            <a:r>
              <a:rPr lang="en-US" sz="13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Import Sets</a:t>
            </a: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13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Transform Maps</a:t>
            </a: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to transfer external spreadsheet data securely.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52475" y="35052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09625" y="350520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Integrated directly into the core sys_user table, maintaining critical data architecture.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52475" y="41624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09625" y="41624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Enhanced IT Service Desk operational efficiency by implementing dot-walking on the Incident form.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52475" y="48196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48196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Significantly reduced manual data entry errors and provided immediate visibility into user context during incidents.</a:t>
            </a:r>
            <a:endParaRPr dirty="0"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1907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259758" y="857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Executive Summary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/>
        </p:nvSpPr>
        <p:spPr>
          <a:xfrm>
            <a:off x="2286000" y="2557462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Administrators: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Wasting substantial administrative time manually inputting hundreds of employee records during onboarding cycles.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2286000" y="3424237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Service Desk Agents: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Experiencing inefficiency caused by constantly switching tabs away from the Incident form to look up an Assigned User's details.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2286000" y="4291012"/>
            <a:ext cx="80962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Data Integrity: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Compromising database health with duplicate user records created due to a lack of automated coalescing and matching checks.</a:t>
            </a:r>
            <a:endParaRPr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57175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438525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305300"/>
            <a:ext cx="2857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1809750" y="1557337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User Pain Points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571500" y="1210596"/>
            <a:ext cx="5550693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Empathy</a:t>
            </a:r>
            <a:endParaRPr dirty="0"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194525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Before deployment, IT Support Agents and System Administrators faced immense friction. The daily operations were hampered by tedious manual entry and navigation overhead.</a:t>
            </a:r>
            <a:endParaRPr dirty="0"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3422854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By mapping out the thoughts, feelings, and actions of these critical users, we identified that the core frustration was the disconnection between data entry systems and active incident resolution workspaces.</a:t>
            </a:r>
            <a:endParaRPr dirty="0"/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3">
            <a:alphaModFix/>
          </a:blip>
          <a:srcRect l="17038" t="16064" r="17051" b="21770"/>
          <a:stretch/>
        </p:blipFill>
        <p:spPr>
          <a:xfrm>
            <a:off x="6985425" y="1126175"/>
            <a:ext cx="4520200" cy="426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/>
          <p:nvPr/>
        </p:nvSpPr>
        <p:spPr>
          <a:xfrm>
            <a:off x="571500" y="3838575"/>
            <a:ext cx="110490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507968" y="4191000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1. Data Prep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4600575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Format Google Sheet data and export locally as CSV/XLSX file.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3343888" y="2286000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2. Stage &amp; Load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3407419" y="2695575"/>
            <a:ext cx="2541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Utilize System Import Sets to create the staging table u_import_employee.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179808" y="4191000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3. Transform Map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243339" y="4600575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 identical fields and set email to coalesce targeting sys_user.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015728" y="2514600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4. UI Config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079259" y="2924175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Apply Form Design to dot-walk user context to Incident workspace.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1727820" y="3743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4563740" y="3743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7399659" y="3743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10235579" y="37433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 Workflow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6693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166937"/>
            <a:ext cx="34290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2166937"/>
            <a:ext cx="3429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485775" y="4500562"/>
            <a:ext cx="36004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 Loading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571500" y="4891087"/>
            <a:ext cx="3429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Securely staging spreadsheet data into a temporary import set table.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4295775" y="4500562"/>
            <a:ext cx="36004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Transformation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381500" y="4891087"/>
            <a:ext cx="3429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Mapping fields and establishing coalesce rules to maintain integrity.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8105775" y="4500562"/>
            <a:ext cx="36004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Dot-Walking UI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191500" y="4891087"/>
            <a:ext cx="3429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Configuring the Incident form to dynamically pull related profile details.</a:t>
            </a:r>
            <a:endParaRPr/>
          </a:p>
        </p:txBody>
      </p:sp>
      <p:pic>
        <p:nvPicPr>
          <p:cNvPr id="200" name="Google Shape;20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185987"/>
            <a:ext cx="33909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00550" y="2185987"/>
            <a:ext cx="33909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10550" y="2185987"/>
            <a:ext cx="33909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Core Implementation Phases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387</Words>
  <Application>Microsoft Office PowerPoint</Application>
  <PresentationFormat>Widescreen</PresentationFormat>
  <Paragraphs>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Merriweather</vt:lpstr>
      <vt:lpstr>Calibri Light</vt:lpstr>
      <vt:lpstr>Arial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 Jazeera</dc:creator>
  <cp:lastModifiedBy>Al Jazeera</cp:lastModifiedBy>
  <cp:revision>1</cp:revision>
  <dcterms:modified xsi:type="dcterms:W3CDTF">2026-04-05T12:58:04Z</dcterms:modified>
</cp:coreProperties>
</file>